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2" r:id="rId3"/>
    <p:sldId id="257" r:id="rId4"/>
    <p:sldId id="258" r:id="rId5"/>
    <p:sldId id="259" r:id="rId6"/>
    <p:sldId id="260" r:id="rId7"/>
    <p:sldId id="261"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12/9/2024</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214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4495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2209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5634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4394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048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4138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968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12/9/2024</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95184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7167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0097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12/9/2024</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518768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Global Population and Fertility Analysis</a:t>
            </a:r>
          </a:p>
        </p:txBody>
      </p:sp>
      <p:sp>
        <p:nvSpPr>
          <p:cNvPr id="3" name="Subtitle 2"/>
          <p:cNvSpPr>
            <a:spLocks noGrp="1"/>
          </p:cNvSpPr>
          <p:nvPr>
            <p:ph type="subTitle" idx="1"/>
          </p:nvPr>
        </p:nvSpPr>
        <p:spPr>
          <a:xfrm>
            <a:off x="2396319" y="3531205"/>
            <a:ext cx="5618515" cy="2216452"/>
          </a:xfrm>
        </p:spPr>
        <p:txBody>
          <a:bodyPr>
            <a:normAutofit fontScale="92500" lnSpcReduction="20000"/>
          </a:bodyPr>
          <a:lstStyle/>
          <a:p>
            <a:r>
              <a:rPr lang="en-US" dirty="0"/>
              <a:t>Group : 5</a:t>
            </a:r>
          </a:p>
          <a:p>
            <a:r>
              <a:rPr lang="en-US" dirty="0"/>
              <a:t> Avinash </a:t>
            </a:r>
            <a:r>
              <a:rPr lang="en-US" dirty="0" err="1"/>
              <a:t>Cheetireala</a:t>
            </a:r>
            <a:endParaRPr lang="en-US" dirty="0"/>
          </a:p>
          <a:p>
            <a:r>
              <a:rPr lang="en-US" dirty="0"/>
              <a:t>Charan </a:t>
            </a:r>
            <a:r>
              <a:rPr lang="en-US" dirty="0" err="1"/>
              <a:t>kumar</a:t>
            </a:r>
            <a:r>
              <a:rPr lang="en-US" dirty="0"/>
              <a:t> </a:t>
            </a:r>
            <a:r>
              <a:rPr lang="en-US" dirty="0" err="1"/>
              <a:t>changanaboina</a:t>
            </a:r>
            <a:endParaRPr lang="en-US" dirty="0"/>
          </a:p>
          <a:p>
            <a:r>
              <a:rPr lang="en-US" dirty="0"/>
              <a:t>Girish </a:t>
            </a:r>
            <a:r>
              <a:rPr lang="en-US" dirty="0" err="1"/>
              <a:t>reddy</a:t>
            </a:r>
            <a:r>
              <a:rPr lang="en-US" dirty="0"/>
              <a:t> </a:t>
            </a:r>
            <a:r>
              <a:rPr lang="en-US" dirty="0" err="1"/>
              <a:t>madireddy</a:t>
            </a:r>
            <a:endParaRPr lang="en-US" dirty="0"/>
          </a:p>
          <a:p>
            <a:r>
              <a:rPr lang="en-US" dirty="0"/>
              <a:t>Pallavi Ravindra</a:t>
            </a:r>
          </a:p>
          <a:p>
            <a:r>
              <a:rPr lang="en-US" dirty="0"/>
              <a:t>Rakesh </a:t>
            </a:r>
            <a:r>
              <a:rPr lang="en-US" dirty="0" err="1"/>
              <a:t>valluri</a:t>
            </a:r>
            <a:endParaRPr lang="en-US" dirty="0"/>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0E128-11DA-1DC5-7806-581E7D92F389}"/>
              </a:ext>
            </a:extLst>
          </p:cNvPr>
          <p:cNvSpPr>
            <a:spLocks noGrp="1"/>
          </p:cNvSpPr>
          <p:nvPr>
            <p:ph type="title"/>
          </p:nvPr>
        </p:nvSpPr>
        <p:spPr>
          <a:xfrm>
            <a:off x="1286328" y="1239949"/>
            <a:ext cx="6571343" cy="1049235"/>
          </a:xfrm>
        </p:spPr>
        <p:txBody>
          <a:bodyPr/>
          <a:lstStyle/>
          <a:p>
            <a:r>
              <a:rPr lang="en-US" dirty="0"/>
              <a:t>Overview:</a:t>
            </a:r>
            <a:endParaRPr lang="en-IN" dirty="0"/>
          </a:p>
        </p:txBody>
      </p:sp>
      <p:sp>
        <p:nvSpPr>
          <p:cNvPr id="3" name="Rectangle 1">
            <a:extLst>
              <a:ext uri="{FF2B5EF4-FFF2-40B4-BE49-F238E27FC236}">
                <a16:creationId xmlns:a16="http://schemas.microsoft.com/office/drawing/2014/main" id="{CF8E64F5-9118-81AB-3CD2-33EEF88BED1E}"/>
              </a:ext>
            </a:extLst>
          </p:cNvPr>
          <p:cNvSpPr>
            <a:spLocks noChangeArrowheads="1"/>
          </p:cNvSpPr>
          <p:nvPr/>
        </p:nvSpPr>
        <p:spPr bwMode="auto">
          <a:xfrm flipH="1">
            <a:off x="1320800" y="2289184"/>
            <a:ext cx="657134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provided slide outlines an overview of the data used in this analysis. The datasets employed include Fertility Data by Country (sourced from the United Nations Fertility Data) and Population Data by Country (derived from the United Nations Population Data).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These datasets cover an extensive time period from 1950 to 2024, providing insights into fertility rates and population distribution by age group and gender across different countries such as India, China, and the USA.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Key features of the data include detailed fertility rates across countries, an analysis of population demographics by age and gender, and comprehensive country-level statistics, offering a robust foundation for evaluating trends and making data-driven conclusions.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chemeClr val="tx1"/>
                </a:solidFill>
                <a:effectLst/>
                <a:latin typeface="Arial" panose="020B0604020202020204" pitchFamily="34" charset="0"/>
              </a:rPr>
            </a:b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3407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Population Distribution by Top 10 Countries</a:t>
            </a:r>
          </a:p>
        </p:txBody>
      </p:sp>
      <p:sp>
        <p:nvSpPr>
          <p:cNvPr id="3" name="Content Placeholder 2"/>
          <p:cNvSpPr>
            <a:spLocks noGrp="1"/>
          </p:cNvSpPr>
          <p:nvPr>
            <p:ph idx="1"/>
          </p:nvPr>
        </p:nvSpPr>
        <p:spPr/>
        <p:txBody>
          <a:bodyPr>
            <a:normAutofit/>
          </a:bodyPr>
          <a:lstStyle/>
          <a:p>
            <a:r>
              <a:rPr sz="1600" dirty="0"/>
              <a:t>Key Findings:</a:t>
            </a:r>
          </a:p>
          <a:p>
            <a:r>
              <a:rPr sz="1600" dirty="0"/>
              <a:t>- China and India each have populations exceeding 1.4 billion.</a:t>
            </a:r>
          </a:p>
          <a:p>
            <a:r>
              <a:rPr sz="1600" dirty="0"/>
              <a:t>- These two countries dominate global population distribution.</a:t>
            </a:r>
          </a:p>
          <a:p>
            <a:r>
              <a:rPr sz="1600" dirty="0"/>
              <a:t>- Other countries in the top 10 include Indonesia, Pakistan, and the United States.</a:t>
            </a:r>
            <a:endParaRPr lang="en-US" sz="1600" dirty="0"/>
          </a:p>
          <a:p>
            <a:endParaRPr sz="1600" dirty="0"/>
          </a:p>
        </p:txBody>
      </p:sp>
      <p:pic>
        <p:nvPicPr>
          <p:cNvPr id="5" name="Picture 4">
            <a:extLst>
              <a:ext uri="{FF2B5EF4-FFF2-40B4-BE49-F238E27FC236}">
                <a16:creationId xmlns:a16="http://schemas.microsoft.com/office/drawing/2014/main" id="{2F4C2B40-7E20-CCD8-164A-470E0B6A06B2}"/>
              </a:ext>
            </a:extLst>
          </p:cNvPr>
          <p:cNvPicPr>
            <a:picLocks noChangeAspect="1"/>
          </p:cNvPicPr>
          <p:nvPr/>
        </p:nvPicPr>
        <p:blipFill>
          <a:blip r:embed="rId2"/>
          <a:stretch>
            <a:fillRect/>
          </a:stretch>
        </p:blipFill>
        <p:spPr>
          <a:xfrm>
            <a:off x="2875176" y="3894898"/>
            <a:ext cx="5288437" cy="27320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 10 Countries by Fertility Rate</a:t>
            </a:r>
          </a:p>
        </p:txBody>
      </p:sp>
      <p:sp>
        <p:nvSpPr>
          <p:cNvPr id="3" name="Content Placeholder 2"/>
          <p:cNvSpPr>
            <a:spLocks noGrp="1"/>
          </p:cNvSpPr>
          <p:nvPr>
            <p:ph idx="1"/>
          </p:nvPr>
        </p:nvSpPr>
        <p:spPr/>
        <p:txBody>
          <a:bodyPr>
            <a:normAutofit/>
          </a:bodyPr>
          <a:lstStyle/>
          <a:p>
            <a:r>
              <a:rPr sz="1400" dirty="0"/>
              <a:t>Key Findings:</a:t>
            </a:r>
          </a:p>
          <a:p>
            <a:r>
              <a:rPr sz="1400" dirty="0"/>
              <a:t>- Niger leads with the highest fertility rate globally.</a:t>
            </a:r>
          </a:p>
          <a:p>
            <a:r>
              <a:rPr sz="1400" dirty="0"/>
              <a:t>- High fertility rates are concentrated in African countries.</a:t>
            </a:r>
          </a:p>
          <a:p>
            <a:r>
              <a:rPr sz="1400" dirty="0"/>
              <a:t>- Socioeconomic factors like healthcare and education influence these rates.</a:t>
            </a:r>
            <a:endParaRPr lang="en-IN" sz="1400" dirty="0"/>
          </a:p>
          <a:p>
            <a:endParaRPr lang="en-US" sz="1400" dirty="0"/>
          </a:p>
        </p:txBody>
      </p:sp>
      <p:pic>
        <p:nvPicPr>
          <p:cNvPr id="7" name="Picture 6">
            <a:extLst>
              <a:ext uri="{FF2B5EF4-FFF2-40B4-BE49-F238E27FC236}">
                <a16:creationId xmlns:a16="http://schemas.microsoft.com/office/drawing/2014/main" id="{E730FF71-83DB-FB2F-3C88-7F1403FC336D}"/>
              </a:ext>
            </a:extLst>
          </p:cNvPr>
          <p:cNvPicPr>
            <a:picLocks noChangeAspect="1"/>
          </p:cNvPicPr>
          <p:nvPr/>
        </p:nvPicPr>
        <p:blipFill>
          <a:blip r:embed="rId2"/>
          <a:stretch>
            <a:fillRect/>
          </a:stretch>
        </p:blipFill>
        <p:spPr>
          <a:xfrm>
            <a:off x="2622661" y="3567435"/>
            <a:ext cx="5870888" cy="30784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Fertility Rate and Population Comparison</a:t>
            </a:r>
          </a:p>
        </p:txBody>
      </p:sp>
      <p:sp>
        <p:nvSpPr>
          <p:cNvPr id="3" name="Content Placeholder 2"/>
          <p:cNvSpPr>
            <a:spLocks noGrp="1"/>
          </p:cNvSpPr>
          <p:nvPr>
            <p:ph idx="1"/>
          </p:nvPr>
        </p:nvSpPr>
        <p:spPr>
          <a:xfrm>
            <a:off x="1443491" y="2015734"/>
            <a:ext cx="6571343" cy="2895632"/>
          </a:xfrm>
        </p:spPr>
        <p:txBody>
          <a:bodyPr>
            <a:normAutofit/>
          </a:bodyPr>
          <a:lstStyle/>
          <a:p>
            <a:r>
              <a:rPr sz="1400" dirty="0"/>
              <a:t>Key Findings:</a:t>
            </a:r>
          </a:p>
          <a:p>
            <a:r>
              <a:rPr sz="1400" dirty="0"/>
              <a:t>- High fertility rates do not always correlate with high population sizes.</a:t>
            </a:r>
          </a:p>
          <a:p>
            <a:r>
              <a:rPr sz="1400" dirty="0"/>
              <a:t>- Countries with large populations tend to have lower fertility rates.</a:t>
            </a:r>
          </a:p>
          <a:p>
            <a:r>
              <a:rPr sz="1400" dirty="0"/>
              <a:t>- Highlights the impact of economic and developmental factors</a:t>
            </a:r>
            <a:r>
              <a:rPr lang="en-US" sz="1400" dirty="0"/>
              <a:t>.</a:t>
            </a:r>
            <a:endParaRPr sz="1400" dirty="0"/>
          </a:p>
        </p:txBody>
      </p:sp>
      <p:pic>
        <p:nvPicPr>
          <p:cNvPr id="5" name="Picture 4">
            <a:extLst>
              <a:ext uri="{FF2B5EF4-FFF2-40B4-BE49-F238E27FC236}">
                <a16:creationId xmlns:a16="http://schemas.microsoft.com/office/drawing/2014/main" id="{B753E3D3-612D-00ED-29BB-F2FA7DB51CFD}"/>
              </a:ext>
            </a:extLst>
          </p:cNvPr>
          <p:cNvPicPr>
            <a:picLocks noChangeAspect="1"/>
          </p:cNvPicPr>
          <p:nvPr/>
        </p:nvPicPr>
        <p:blipFill>
          <a:blip r:embed="rId2"/>
          <a:stretch>
            <a:fillRect/>
          </a:stretch>
        </p:blipFill>
        <p:spPr>
          <a:xfrm>
            <a:off x="2450969" y="3615780"/>
            <a:ext cx="5788058" cy="29605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Fertility Rate Trend Over Time</a:t>
            </a:r>
          </a:p>
        </p:txBody>
      </p:sp>
      <p:sp>
        <p:nvSpPr>
          <p:cNvPr id="3" name="Content Placeholder 2"/>
          <p:cNvSpPr>
            <a:spLocks noGrp="1"/>
          </p:cNvSpPr>
          <p:nvPr>
            <p:ph idx="1"/>
          </p:nvPr>
        </p:nvSpPr>
        <p:spPr/>
        <p:txBody>
          <a:bodyPr>
            <a:normAutofit/>
          </a:bodyPr>
          <a:lstStyle/>
          <a:p>
            <a:r>
              <a:rPr sz="1400" dirty="0"/>
              <a:t>Key Findings:</a:t>
            </a:r>
          </a:p>
          <a:p>
            <a:r>
              <a:rPr sz="1400" dirty="0"/>
              <a:t>- Global fertility rates have shown a steady decline from 1960 to 2023.</a:t>
            </a:r>
          </a:p>
          <a:p>
            <a:r>
              <a:rPr sz="1400" dirty="0"/>
              <a:t>- This trend indicates shifts toward smaller families and better family planning.</a:t>
            </a:r>
          </a:p>
          <a:p>
            <a:r>
              <a:rPr sz="1400" dirty="0"/>
              <a:t>- Factors include improved education and healthcare access.</a:t>
            </a:r>
          </a:p>
        </p:txBody>
      </p:sp>
      <p:pic>
        <p:nvPicPr>
          <p:cNvPr id="5" name="Picture 4">
            <a:extLst>
              <a:ext uri="{FF2B5EF4-FFF2-40B4-BE49-F238E27FC236}">
                <a16:creationId xmlns:a16="http://schemas.microsoft.com/office/drawing/2014/main" id="{6989E8D4-FFA9-9963-43E2-13AAB8A4FCB7}"/>
              </a:ext>
            </a:extLst>
          </p:cNvPr>
          <p:cNvPicPr>
            <a:picLocks noChangeAspect="1"/>
          </p:cNvPicPr>
          <p:nvPr/>
        </p:nvPicPr>
        <p:blipFill>
          <a:blip r:embed="rId2"/>
          <a:stretch>
            <a:fillRect/>
          </a:stretch>
        </p:blipFill>
        <p:spPr>
          <a:xfrm>
            <a:off x="2641641" y="3557536"/>
            <a:ext cx="5899043" cy="30695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Fertility Across Countries</a:t>
            </a:r>
          </a:p>
        </p:txBody>
      </p:sp>
      <p:sp>
        <p:nvSpPr>
          <p:cNvPr id="3" name="Content Placeholder 2"/>
          <p:cNvSpPr>
            <a:spLocks noGrp="1"/>
          </p:cNvSpPr>
          <p:nvPr>
            <p:ph idx="1"/>
          </p:nvPr>
        </p:nvSpPr>
        <p:spPr/>
        <p:txBody>
          <a:bodyPr>
            <a:normAutofit/>
          </a:bodyPr>
          <a:lstStyle/>
          <a:p>
            <a:r>
              <a:rPr sz="1400" dirty="0"/>
              <a:t>Key Findings:</a:t>
            </a:r>
          </a:p>
          <a:p>
            <a:r>
              <a:rPr sz="1400" dirty="0"/>
              <a:t>- Fertility rates vary significantly across the globe.</a:t>
            </a:r>
          </a:p>
          <a:p>
            <a:r>
              <a:rPr sz="1400" dirty="0"/>
              <a:t>- Africa shows the highest fertility rates, while Europe and North America are lower.</a:t>
            </a:r>
          </a:p>
          <a:p>
            <a:r>
              <a:rPr sz="1400" dirty="0"/>
              <a:t>- These disparities highlight differences in development and demographics</a:t>
            </a:r>
            <a:r>
              <a:rPr lang="en-US" sz="1400" dirty="0"/>
              <a:t>.</a:t>
            </a:r>
            <a:endParaRPr sz="1400" dirty="0"/>
          </a:p>
        </p:txBody>
      </p:sp>
      <p:pic>
        <p:nvPicPr>
          <p:cNvPr id="5" name="Picture 4">
            <a:extLst>
              <a:ext uri="{FF2B5EF4-FFF2-40B4-BE49-F238E27FC236}">
                <a16:creationId xmlns:a16="http://schemas.microsoft.com/office/drawing/2014/main" id="{C3A52093-087C-50EE-8555-1AC70058E844}"/>
              </a:ext>
            </a:extLst>
          </p:cNvPr>
          <p:cNvPicPr>
            <a:picLocks noChangeAspect="1"/>
          </p:cNvPicPr>
          <p:nvPr/>
        </p:nvPicPr>
        <p:blipFill>
          <a:blip r:embed="rId2"/>
          <a:stretch>
            <a:fillRect/>
          </a:stretch>
        </p:blipFill>
        <p:spPr>
          <a:xfrm>
            <a:off x="2707016" y="3741039"/>
            <a:ext cx="5711120" cy="29420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41FE2-DDAA-5CB8-8631-A15FA6A995FF}"/>
              </a:ext>
            </a:extLst>
          </p:cNvPr>
          <p:cNvSpPr>
            <a:spLocks noGrp="1"/>
          </p:cNvSpPr>
          <p:nvPr>
            <p:ph type="title"/>
          </p:nvPr>
        </p:nvSpPr>
        <p:spPr/>
        <p:txBody>
          <a:bodyPr/>
          <a:lstStyle/>
          <a:p>
            <a:r>
              <a:rPr lang="en-US" dirty="0"/>
              <a:t>FINAL DASHBOARD</a:t>
            </a:r>
            <a:endParaRPr lang="en-IN" dirty="0"/>
          </a:p>
        </p:txBody>
      </p:sp>
      <p:pic>
        <p:nvPicPr>
          <p:cNvPr id="4" name="Picture 3">
            <a:extLst>
              <a:ext uri="{FF2B5EF4-FFF2-40B4-BE49-F238E27FC236}">
                <a16:creationId xmlns:a16="http://schemas.microsoft.com/office/drawing/2014/main" id="{0A2D973A-30BB-E08A-04EF-5461405D1D6D}"/>
              </a:ext>
            </a:extLst>
          </p:cNvPr>
          <p:cNvPicPr>
            <a:picLocks noChangeAspect="1"/>
          </p:cNvPicPr>
          <p:nvPr/>
        </p:nvPicPr>
        <p:blipFill>
          <a:blip r:embed="rId2"/>
          <a:stretch>
            <a:fillRect/>
          </a:stretch>
        </p:blipFill>
        <p:spPr>
          <a:xfrm>
            <a:off x="990860" y="1612866"/>
            <a:ext cx="7894425" cy="4440614"/>
          </a:xfrm>
          <a:prstGeom prst="rect">
            <a:avLst/>
          </a:prstGeom>
        </p:spPr>
      </p:pic>
    </p:spTree>
    <p:extLst>
      <p:ext uri="{BB962C8B-B14F-4D97-AF65-F5344CB8AC3E}">
        <p14:creationId xmlns:p14="http://schemas.microsoft.com/office/powerpoint/2010/main" val="920320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4E73-492D-08BC-DA01-38D6FFE495AF}"/>
              </a:ext>
            </a:extLst>
          </p:cNvPr>
          <p:cNvSpPr>
            <a:spLocks noGrp="1"/>
          </p:cNvSpPr>
          <p:nvPr>
            <p:ph type="title"/>
          </p:nvPr>
        </p:nvSpPr>
        <p:spPr/>
        <p:txBody>
          <a:bodyPr/>
          <a:lstStyle/>
          <a:p>
            <a:r>
              <a:rPr lang="en-US" dirty="0"/>
              <a:t>Conclusion:</a:t>
            </a:r>
            <a:endParaRPr lang="en-IN" dirty="0"/>
          </a:p>
        </p:txBody>
      </p:sp>
      <p:sp>
        <p:nvSpPr>
          <p:cNvPr id="3" name="Rectangle 1">
            <a:extLst>
              <a:ext uri="{FF2B5EF4-FFF2-40B4-BE49-F238E27FC236}">
                <a16:creationId xmlns:a16="http://schemas.microsoft.com/office/drawing/2014/main" id="{F4DB3935-0DE4-46B9-6053-1FD05056A9B1}"/>
              </a:ext>
            </a:extLst>
          </p:cNvPr>
          <p:cNvSpPr>
            <a:spLocks noChangeArrowheads="1"/>
          </p:cNvSpPr>
          <p:nvPr/>
        </p:nvSpPr>
        <p:spPr bwMode="auto">
          <a:xfrm flipH="1">
            <a:off x="997191" y="2173429"/>
            <a:ext cx="674016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analysis of global fertility rates and population distribution has revealed significant insights into the changing demographics of the world. Fertility rates have shown a steady decline globally, reflecting shifts towards smaller families, advancements in healthcare, and improved access to education.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data highlights stark regional differences, with countries in Africa and South Asia experiencing higher fertility rates and faster population growth, while developed regions such as Europe and East Asia face aging populations and declining fertility.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These trends underscore the importance of tailored policy interventions: countries with high fertility rates must prioritize investments in healthcare, education, and infrastructure to manage population growth sustainably, while countries with aging populations need strategies to address workforce shortages and economic challenges. Addressing these demographic shifts effectively will require global collaboration and region-specific approaches to ensure a balanced and prosperous future.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2414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Thank You Images – Browse 349,571 Stock ...">
            <a:extLst>
              <a:ext uri="{FF2B5EF4-FFF2-40B4-BE49-F238E27FC236}">
                <a16:creationId xmlns:a16="http://schemas.microsoft.com/office/drawing/2014/main" id="{971D000D-F03D-226A-3A29-6FF1CC79C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534" y="1727413"/>
            <a:ext cx="7352105" cy="3120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13175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26</TotalTime>
  <Words>515</Words>
  <Application>Microsoft Office PowerPoint</Application>
  <PresentationFormat>On-screen Show (4:3)</PresentationFormat>
  <Paragraphs>46</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Gill Sans MT</vt:lpstr>
      <vt:lpstr>Gallery</vt:lpstr>
      <vt:lpstr>Global Population and Fertility Analysis</vt:lpstr>
      <vt:lpstr>Overview:</vt:lpstr>
      <vt:lpstr>Population Distribution by Top 10 Countries</vt:lpstr>
      <vt:lpstr>Top 10 Countries by Fertility Rate</vt:lpstr>
      <vt:lpstr>Fertility Rate and Population Comparison</vt:lpstr>
      <vt:lpstr>Fertility Rate Trend Over Time</vt:lpstr>
      <vt:lpstr>Fertility Across Countries</vt:lpstr>
      <vt:lpstr>FINAL DASHBOARD</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Valluri Rakesh</dc:creator>
  <cp:keywords/>
  <dc:description>generated using python-pptx</dc:description>
  <cp:lastModifiedBy>Rakesh Valluri</cp:lastModifiedBy>
  <cp:revision>6</cp:revision>
  <dcterms:created xsi:type="dcterms:W3CDTF">2013-01-27T09:14:16Z</dcterms:created>
  <dcterms:modified xsi:type="dcterms:W3CDTF">2024-12-09T06:17:06Z</dcterms:modified>
  <cp:category/>
</cp:coreProperties>
</file>